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2" r:id="rId9"/>
    <p:sldId id="269" r:id="rId10"/>
    <p:sldId id="268" r:id="rId11"/>
    <p:sldId id="267" r:id="rId12"/>
    <p:sldId id="271" r:id="rId13"/>
    <p:sldId id="260" r:id="rId14"/>
    <p:sldId id="261" r:id="rId15"/>
    <p:sldId id="270" r:id="rId16"/>
    <p:sldId id="259" r:id="rId17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EC09-CDFB-B9A0-6232-ACA8C28A3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2B08F-90E1-E112-B5E6-A7E140A76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78A37-A455-E0BB-374F-C7374566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F9D27-3997-F27E-F72A-B12F4764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6F36-5317-2E41-8235-F9716A54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9099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6BF4-3413-FE8A-CED0-311D94CA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5556-F91A-6675-09CA-9D8763943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7A595-8D8A-08C6-9401-22085EBE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2CB55-EB60-C3D3-7993-9C8D5217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8E24C-2DCE-50E4-EC36-288E2283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022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8512-1F85-45F7-70ED-0697224E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F394C-42A8-CB04-4C12-55401D4F1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289EA-794E-5579-EA12-3C83B2E2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B619-74EB-264C-BA34-F3F06BAD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E97F0-6EC5-E094-43CD-F8779911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448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93C0E-BBF4-DD50-81EA-D047458E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F9C9C-89A7-95CD-03F1-22C0C39C2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95A81-7DA7-527E-9399-7EF01C405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DEE81-8AF6-4B66-0D0A-5E61C184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9004E-6BE9-2D88-C4C2-08C96F9C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F5CAB-52BF-2065-8D8B-DB51BC57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674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9236-5832-6A6A-D016-FFFC3D42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6DDC7-9B33-A5ED-0CEF-14670F610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F699B-47D7-D80F-2DF7-58764F10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300F5-E544-069F-42B5-94F1C4559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4DC1F-0BD4-7B75-4DC0-A6A7B26F0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D8C64-69F8-EBFC-CA67-474FE0DF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51306-3172-C200-B449-F201DC9F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3B5FD-AAAA-922E-0C7A-5AF397D1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9507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B8E1-9557-8B08-A0D9-62E7292E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208B3-993E-BAD3-F395-F61181F9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F2F33-DB18-9D50-69D1-04E88812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F6D82-A459-BCB3-EE89-D6B05B5B7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9792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462EA-B744-CB43-9A24-56793193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EF6A1-7F09-4212-F7D1-E78DE8E4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692CD-901E-C295-B617-534EFB69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3289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5AB1-FDC2-DAB3-5BA5-664591EC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8524-CB1E-F37C-9E74-D3D35D88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E7318-C1EA-0974-C944-21DE8E2A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EDE32-2788-C0A2-8792-8FDCC2A0F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D1D5D-8D1B-DB72-6215-4965EB39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96817-89A7-BF16-0BFF-925C5621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7077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5D81-A12F-C874-8A19-E30E36DD2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F1738-A0B1-7877-F218-A662CACB4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0F9BE-CF47-B35D-FE69-6B8815F1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08227-A4B5-E9E2-7D8E-969C82DD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2AE4C-61BD-AAE1-FA82-64CF817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ECB93-E57D-BDC5-D4F5-47C3D28F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9271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BEDD-6C8E-AD75-94F7-7DB273FD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1EDDD-66C6-E35F-0976-8E493BC75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26C56-C0A7-362B-91F7-B8F7CFF4C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B5E24-FF32-F539-3AB1-8C659370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3768-1B44-F78C-3B92-0A041C38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4260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5F20B-9A69-E94D-6748-8DEDA5688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51E69-BBB1-74AF-1F7B-EB573B476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9449-BD83-5A6C-164D-CA3DD0F4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FB164-E3A4-D0B4-79DF-D7014DF0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3B86A-9D9E-64F4-08A8-67EAACCE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3449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68DA9-23EB-8818-24BB-E336DF19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CEA22-30FF-0E98-C1B8-8A34E1FD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B6C39-70FB-132E-580B-FB0E9C584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6E457-077C-4A53-BF29-E23CD5ABE444}" type="datetimeFigureOut">
              <a:rPr lang="ar-EG" smtClean="0"/>
              <a:t>10/07/1447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21FCD-D1D6-5811-8445-F7B4364D2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8ED03-5D22-BC37-34DA-68FA42B02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E4315-ADD1-4843-BB2A-A2B0CE27A3A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2395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56DEFD-B22C-F8DA-4AAD-342FAC8FD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249B10-30ED-3F94-8B0F-BFE5F89248B2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4B079F-0716-A8A1-BF74-9A47770A5EDA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53088-B5BE-6F43-4F8A-E3861A097212}"/>
              </a:ext>
            </a:extLst>
          </p:cNvPr>
          <p:cNvSpPr txBox="1"/>
          <p:nvPr/>
        </p:nvSpPr>
        <p:spPr>
          <a:xfrm>
            <a:off x="1263894" y="1281435"/>
            <a:ext cx="94890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000" b="1" i="0" dirty="0">
                <a:effectLst/>
                <a:latin typeface="Source Sans"/>
              </a:rPr>
              <a:t>Bank Customer Financial Behavior Clustering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71875-EB50-DEA1-E634-5CBE29844B1B}"/>
              </a:ext>
            </a:extLst>
          </p:cNvPr>
          <p:cNvSpPr txBox="1"/>
          <p:nvPr/>
        </p:nvSpPr>
        <p:spPr>
          <a:xfrm>
            <a:off x="1263894" y="4519246"/>
            <a:ext cx="713276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Zeyad Mohmed Ahmed Refaey </a:t>
            </a:r>
          </a:p>
          <a:p>
            <a:r>
              <a:rPr lang="en-US" dirty="0"/>
              <a:t>69230066</a:t>
            </a:r>
          </a:p>
          <a:p>
            <a:r>
              <a:rPr lang="en-US" dirty="0"/>
              <a:t>B2</a:t>
            </a:r>
            <a:endParaRPr lang="ar-E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C4E5B-5A6A-F96E-8022-906C0DD1BD85}"/>
              </a:ext>
            </a:extLst>
          </p:cNvPr>
          <p:cNvSpPr txBox="1"/>
          <p:nvPr/>
        </p:nvSpPr>
        <p:spPr>
          <a:xfrm>
            <a:off x="1263894" y="3070570"/>
            <a:ext cx="9937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Data-Driven Customer Segmentation for Targeted Marketing Strategies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431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192E-D6ED-0A2C-B99E-0555B093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19DE6B-7661-5582-F882-D52E4B9D1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EB6351-7164-0B35-3464-C0F64C0C8795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770C8-5426-4CFE-BFB5-C63EA81E1030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1B28FC-99CB-747E-ED0E-C046F7ECD137}"/>
              </a:ext>
            </a:extLst>
          </p:cNvPr>
          <p:cNvSpPr txBox="1"/>
          <p:nvPr/>
        </p:nvSpPr>
        <p:spPr>
          <a:xfrm>
            <a:off x="938579" y="1213338"/>
            <a:ext cx="6097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Project Objectives</a:t>
            </a:r>
            <a:endParaRPr lang="ar-EG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DA914-0D85-A613-0523-0C7084DB0E64}"/>
              </a:ext>
            </a:extLst>
          </p:cNvPr>
          <p:cNvSpPr txBox="1"/>
          <p:nvPr/>
        </p:nvSpPr>
        <p:spPr>
          <a:xfrm>
            <a:off x="1554041" y="2020061"/>
            <a:ext cx="6167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Goal:</a:t>
            </a:r>
            <a:r>
              <a:rPr lang="en-US" sz="2000" dirty="0"/>
              <a:t> Group customers based on shared financial and behavioral characteristics.</a:t>
            </a:r>
            <a:endParaRPr lang="ar-EG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B13715-54D4-261E-BF45-B0EE163D2064}"/>
              </a:ext>
            </a:extLst>
          </p:cNvPr>
          <p:cNvSpPr txBox="1"/>
          <p:nvPr/>
        </p:nvSpPr>
        <p:spPr>
          <a:xfrm>
            <a:off x="1540852" y="3011450"/>
            <a:ext cx="6167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Purpose:</a:t>
            </a:r>
            <a:r>
              <a:rPr lang="en-US" dirty="0"/>
              <a:t> To move away from "one-size-fits-all" marketing and create personalized financial products.</a:t>
            </a:r>
            <a:endParaRPr lang="ar-E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9A9D1-8D18-22EA-A808-B0D60E204107}"/>
              </a:ext>
            </a:extLst>
          </p:cNvPr>
          <p:cNvSpPr txBox="1"/>
          <p:nvPr/>
        </p:nvSpPr>
        <p:spPr>
          <a:xfrm>
            <a:off x="1554041" y="4130054"/>
            <a:ext cx="6167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Question:</a:t>
            </a:r>
            <a:r>
              <a:rPr lang="en-US" dirty="0"/>
              <a:t> How can we identify high-value vs. high-potential customers using unsupervised learning?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83090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7F2B-4EA7-AEE0-012B-783EDB824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8C89807-EDA2-AA93-BD69-7D031A9EE92F}"/>
              </a:ext>
            </a:extLst>
          </p:cNvPr>
          <p:cNvGrpSpPr/>
          <p:nvPr/>
        </p:nvGrpSpPr>
        <p:grpSpPr>
          <a:xfrm>
            <a:off x="0" y="0"/>
            <a:ext cx="12196688" cy="6858000"/>
            <a:chOff x="0" y="0"/>
            <a:chExt cx="12196688" cy="685800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2CA1769-DD8F-FAAD-142D-02CE409C5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88" t="14744" r="8847" b="1923"/>
            <a:stretch>
              <a:fillRect/>
            </a:stretch>
          </p:blipFill>
          <p:spPr>
            <a:xfrm>
              <a:off x="0" y="0"/>
              <a:ext cx="12196688" cy="6858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30D683-54CE-FADC-9C92-64ACA669B127}"/>
                </a:ext>
              </a:extLst>
            </p:cNvPr>
            <p:cNvSpPr/>
            <p:nvPr/>
          </p:nvSpPr>
          <p:spPr>
            <a:xfrm>
              <a:off x="659423" y="958362"/>
              <a:ext cx="9803423" cy="4686300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CF782D2-FE55-9AEB-01D2-5DBE6CF1F7B5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9957F-7848-72B4-A9DB-4CE0BA5AFD5A}"/>
              </a:ext>
            </a:extLst>
          </p:cNvPr>
          <p:cNvSpPr txBox="1"/>
          <p:nvPr/>
        </p:nvSpPr>
        <p:spPr>
          <a:xfrm>
            <a:off x="903411" y="1239656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Overview</a:t>
            </a:r>
            <a:endParaRPr lang="ar-E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AF939F-C193-A97A-BBA4-9A3167ADE3EF}"/>
              </a:ext>
            </a:extLst>
          </p:cNvPr>
          <p:cNvSpPr txBox="1"/>
          <p:nvPr/>
        </p:nvSpPr>
        <p:spPr>
          <a:xfrm>
            <a:off x="1492494" y="2061749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Dataset:</a:t>
            </a:r>
            <a:r>
              <a:rPr lang="en-US" sz="2000" dirty="0"/>
              <a:t> Bank-full dataset (45,211 entries).</a:t>
            </a:r>
            <a:endParaRPr lang="ar-EG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C5D3B8-48E1-DE07-EE7B-B283F0D70F71}"/>
              </a:ext>
            </a:extLst>
          </p:cNvPr>
          <p:cNvSpPr txBox="1"/>
          <p:nvPr/>
        </p:nvSpPr>
        <p:spPr>
          <a:xfrm>
            <a:off x="1492493" y="2791509"/>
            <a:ext cx="751962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Features:</a:t>
            </a:r>
            <a:r>
              <a:rPr lang="en-US" sz="2000" dirty="0"/>
              <a:t> * </a:t>
            </a:r>
            <a:r>
              <a:rPr lang="en-US" sz="2000" b="1" dirty="0"/>
              <a:t>Demographics:</a:t>
            </a:r>
            <a:r>
              <a:rPr lang="en-US" sz="2000" dirty="0"/>
              <a:t> Age, Job, Marital Status, Education.</a:t>
            </a:r>
          </a:p>
          <a:p>
            <a:pPr>
              <a:buNone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Financials:</a:t>
            </a:r>
            <a:r>
              <a:rPr lang="en-US" dirty="0"/>
              <a:t> Yearly balance, credit default, housing/personal loans.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Campaign:</a:t>
            </a:r>
            <a:r>
              <a:rPr lang="en-US" dirty="0"/>
              <a:t> Contact duration, frequency, and previous outcomes.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D54735-ED00-73F2-367D-AA55E018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8" t="34400" r="16750" b="35897"/>
          <a:stretch>
            <a:fillRect/>
          </a:stretch>
        </p:blipFill>
        <p:spPr>
          <a:xfrm>
            <a:off x="1261402" y="4053393"/>
            <a:ext cx="9490417" cy="203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3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5FCC-E131-0F5D-00EB-B1867025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2FA6E5-EF54-B5A5-0E99-BCB1E97E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C34540-6514-3AA1-E650-1B9419E5C383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88435-9E3E-3FE9-6FBF-8501B9BC80F1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40F45-D7F9-F37E-DAB8-A23DF211EE23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Preprocessing Pipeline</a:t>
            </a:r>
            <a:endParaRPr lang="ar-EG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CE942-8893-8B6B-2577-BB52A098B224}"/>
              </a:ext>
            </a:extLst>
          </p:cNvPr>
          <p:cNvSpPr txBox="1"/>
          <p:nvPr/>
        </p:nvSpPr>
        <p:spPr>
          <a:xfrm>
            <a:off x="1729154" y="1929979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Cleaning:</a:t>
            </a:r>
            <a:r>
              <a:rPr lang="en-US" dirty="0"/>
              <a:t> Handling missing values and noncorrect Data.</a:t>
            </a:r>
            <a:endParaRPr lang="ar-E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9620F8-95A3-A871-5A6E-2B1CF168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5" t="25600" r="64150" b="39867"/>
          <a:stretch>
            <a:fillRect/>
          </a:stretch>
        </p:blipFill>
        <p:spPr>
          <a:xfrm>
            <a:off x="7936992" y="2926080"/>
            <a:ext cx="3977640" cy="2368296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E16D3A-9406-2BCB-8650-727681E34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49" t="34532" r="35793" b="13975"/>
          <a:stretch>
            <a:fillRect/>
          </a:stretch>
        </p:blipFill>
        <p:spPr>
          <a:xfrm>
            <a:off x="420624" y="2404763"/>
            <a:ext cx="7407578" cy="353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1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2134-046C-B987-AA59-C22482ECA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7722B3-F5F0-6CBF-1F1D-564B8BCB4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EA3A9B-FEB3-B0F0-6B8C-80DB180C16F2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FCCB6-BF79-5AD4-62D4-59B1ABB3BDAD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84934-C0A7-0106-30F1-FC929038B229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Preprocessing Pipeline</a:t>
            </a:r>
            <a:endParaRPr lang="ar-EG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E6A2C-1056-85B3-2229-40DAAF04D788}"/>
              </a:ext>
            </a:extLst>
          </p:cNvPr>
          <p:cNvSpPr txBox="1"/>
          <p:nvPr/>
        </p:nvSpPr>
        <p:spPr>
          <a:xfrm>
            <a:off x="1729154" y="198703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Encoding:</a:t>
            </a:r>
            <a:r>
              <a:rPr lang="en-US" dirty="0"/>
              <a:t> One-Hot Encoding for categorical variables (Jobs, Marital status, etc.).</a:t>
            </a:r>
            <a:endParaRPr lang="ar-EG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A0021C-96B9-5069-3BCC-A0BEE9BB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9743" r="11730" b="44744"/>
          <a:stretch>
            <a:fillRect/>
          </a:stretch>
        </p:blipFill>
        <p:spPr>
          <a:xfrm>
            <a:off x="811822" y="3077305"/>
            <a:ext cx="10761785" cy="243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1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F19D-1B70-6790-3B10-5ACF62EE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485578-12F4-C33E-EE46-7B67E3CDF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C70AD3-F8DA-DF6C-5321-D5EAC98D7B75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EC3A1-D5C1-FE82-A3CE-BED4099E331B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A01E2-5040-6055-0B8C-19C421B1B268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Preprocessing Pipeline</a:t>
            </a:r>
            <a:endParaRPr lang="ar-EG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ECD9D-D9D4-9446-B5BC-8C4AC806647D}"/>
              </a:ext>
            </a:extLst>
          </p:cNvPr>
          <p:cNvSpPr txBox="1"/>
          <p:nvPr/>
        </p:nvSpPr>
        <p:spPr>
          <a:xfrm>
            <a:off x="1729154" y="1929979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Scaling:</a:t>
            </a:r>
            <a:r>
              <a:rPr lang="en-US" dirty="0"/>
              <a:t> Standardizing numerical data to ensure "Balance" doesn't overshadow "Age."</a:t>
            </a:r>
            <a:endParaRPr lang="ar-EG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991EFC-7AA8-7338-E5F7-6DE6F7756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" t="30641" r="18150" b="29487"/>
          <a:stretch>
            <a:fillRect/>
          </a:stretch>
        </p:blipFill>
        <p:spPr>
          <a:xfrm>
            <a:off x="1206011" y="2914487"/>
            <a:ext cx="9601200" cy="273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7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4A79B-F090-6EAC-9959-B390E222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6927CB-E9B4-89C9-95FD-7FF942A6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77BD28-B3DC-72C4-598F-F0184E009685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1D379-7BCF-31D8-A970-FE2BC87AF80E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E8799-6179-4CB8-3872-618BFD6D67F7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Data Preprocessing Pipeline</a:t>
            </a:r>
            <a:endParaRPr lang="ar-E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598B6-478C-585A-B3E7-AA3293AB51B2}"/>
              </a:ext>
            </a:extLst>
          </p:cNvPr>
          <p:cNvSpPr txBox="1"/>
          <p:nvPr/>
        </p:nvSpPr>
        <p:spPr>
          <a:xfrm>
            <a:off x="1729154" y="1929979"/>
            <a:ext cx="8795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Dimensionality Reduction:</a:t>
            </a:r>
            <a:r>
              <a:rPr lang="en-US" dirty="0"/>
              <a:t> Using </a:t>
            </a:r>
            <a:r>
              <a:rPr lang="en-US" b="1" dirty="0"/>
              <a:t>PCA (Principal Component Analysis)</a:t>
            </a:r>
            <a:r>
              <a:rPr lang="en-US" dirty="0"/>
              <a:t> to simplify the data while keeping the most important information.</a:t>
            </a:r>
            <a:endParaRPr lang="ar-EG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B0D1DD-1101-BA9C-E020-4CB23F759C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2" t="33205" r="35313" b="35513"/>
          <a:stretch>
            <a:fillRect/>
          </a:stretch>
        </p:blipFill>
        <p:spPr>
          <a:xfrm>
            <a:off x="1828799" y="3209029"/>
            <a:ext cx="7464669" cy="21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8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2E1F6-7CD2-6600-F2A3-1921D040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CE72DB-E310-8211-270F-88B586191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DEE1AD-09D7-A4D4-FEDF-07AD6343567F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86FB3-CD15-E0EA-086A-2F1BF65CAE2B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8590C-65A8-1DBA-2718-EBEB90D4F363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Choosing the Right Model</a:t>
            </a:r>
            <a:endParaRPr lang="ar-E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6707C-0930-C828-C0AD-AD28A01BDF88}"/>
              </a:ext>
            </a:extLst>
          </p:cNvPr>
          <p:cNvSpPr txBox="1"/>
          <p:nvPr/>
        </p:nvSpPr>
        <p:spPr>
          <a:xfrm>
            <a:off x="1729154" y="1929979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Algorithms Tested:</a:t>
            </a:r>
            <a:r>
              <a:rPr lang="en-US" dirty="0"/>
              <a:t> K-Means, DBSCAN, and Hierarchical Clustering.</a:t>
            </a:r>
            <a:endParaRPr lang="ar-E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B764C-F9DB-8566-528B-C5FB3E3ECC82}"/>
              </a:ext>
            </a:extLst>
          </p:cNvPr>
          <p:cNvSpPr txBox="1"/>
          <p:nvPr/>
        </p:nvSpPr>
        <p:spPr>
          <a:xfrm>
            <a:off x="1729154" y="2839847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Selection Metric:</a:t>
            </a:r>
            <a:r>
              <a:rPr lang="en-US" dirty="0"/>
              <a:t> Silhouette Score.</a:t>
            </a:r>
            <a:endParaRPr lang="ar-E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35C400-9D90-B781-B68A-1127D14592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7" t="46795" r="64808" b="43781"/>
          <a:stretch>
            <a:fillRect/>
          </a:stretch>
        </p:blipFill>
        <p:spPr>
          <a:xfrm>
            <a:off x="5685105" y="2655181"/>
            <a:ext cx="3763108" cy="6463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D5A0B5-808A-10E0-2765-ED9861FC7F8C}"/>
              </a:ext>
            </a:extLst>
          </p:cNvPr>
          <p:cNvSpPr txBox="1"/>
          <p:nvPr/>
        </p:nvSpPr>
        <p:spPr>
          <a:xfrm>
            <a:off x="1729154" y="3648822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Outcome:</a:t>
            </a:r>
            <a:r>
              <a:rPr lang="en-US" dirty="0"/>
              <a:t> Mention that while Hierarchical had a high score, K-Means was selected for its balance of interpretability and efficiency in deployment.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062307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DC70-CE07-8185-BFC0-977C6162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78F3EA-C9F8-CFEF-D391-881E94C6BD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F2D144-14C8-F8BD-AAC5-7C1174C18898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BEE14C-5537-0BE7-F389-203F80D07541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17044-9E2D-4C6B-D913-850B48182432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Optimal Clusters (The Elbow Method)</a:t>
            </a:r>
            <a:endParaRPr lang="ar-EG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BD114-8089-92DD-EB63-188E1968F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893" y="1675003"/>
            <a:ext cx="6124469" cy="399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13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DBD1C-3AB9-3F54-3E4E-66357DFB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BE7E9D-8B64-B962-6D81-3C939AE48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793763-5037-DE39-B970-5B2F29DA5800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/>
              <a:t>Cluster 2: High-Value Managers:</a:t>
            </a:r>
            <a:r>
              <a:rPr lang="en-US"/>
              <a:t> Married, highest balances, tertiary education.</a:t>
            </a:r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737DFB-E1EF-00CC-CA36-6D7216FBB135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06595-A505-175B-8C93-FEC72C5497F2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Segment Profiles (Clusters 0–2)</a:t>
            </a:r>
            <a:endParaRPr lang="ar-EG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4B7F3-3D5C-44D3-2E73-952FD86D919A}"/>
              </a:ext>
            </a:extLst>
          </p:cNvPr>
          <p:cNvSpPr txBox="1"/>
          <p:nvPr/>
        </p:nvSpPr>
        <p:spPr>
          <a:xfrm>
            <a:off x="1791433" y="2081597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Cluster 0: Stable Working-Class:</a:t>
            </a:r>
            <a:r>
              <a:rPr lang="en-US" dirty="0"/>
              <a:t> Married, consistent income, likely to have housing loans.</a:t>
            </a:r>
            <a:endParaRPr lang="ar-E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71464-34DD-18FA-36B4-09E88A9AEED1}"/>
              </a:ext>
            </a:extLst>
          </p:cNvPr>
          <p:cNvSpPr txBox="1"/>
          <p:nvPr/>
        </p:nvSpPr>
        <p:spPr>
          <a:xfrm>
            <a:off x="1791433" y="3134522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Cluster 1: Young Professionals:</a:t>
            </a:r>
            <a:r>
              <a:rPr lang="en-US" dirty="0"/>
              <a:t> Single, high activity, potential for long-term growth.</a:t>
            </a:r>
            <a:endParaRPr lang="ar-E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3C43A-239D-5332-C501-4B96DCE80C40}"/>
              </a:ext>
            </a:extLst>
          </p:cNvPr>
          <p:cNvSpPr txBox="1"/>
          <p:nvPr/>
        </p:nvSpPr>
        <p:spPr>
          <a:xfrm>
            <a:off x="1791433" y="4187447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Cluster 2: High-Value Managers:</a:t>
            </a:r>
            <a:r>
              <a:rPr lang="en-US" dirty="0"/>
              <a:t> Married, highest balances, tertiary education.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47672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00DA-FAB9-0BB8-F126-8D2503CF1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6F2F1B-3A3F-B257-57D7-A088DC23D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022F0F-2680-E2A9-80E6-26BEA977690B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D37037-E570-035A-BE16-7F0E6FF67599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11F3B-F60E-70E7-C9CF-D8E8C4363C1C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Segment Profiles (Clusters 3–4)</a:t>
            </a:r>
            <a:endParaRPr lang="ar-EG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7B90A-32A0-6BCF-355D-4D8A73E3392D}"/>
              </a:ext>
            </a:extLst>
          </p:cNvPr>
          <p:cNvSpPr txBox="1"/>
          <p:nvPr/>
        </p:nvSpPr>
        <p:spPr>
          <a:xfrm>
            <a:off x="1729154" y="2081597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Cluster 3: Early-Career Prospects:</a:t>
            </a:r>
            <a:r>
              <a:rPr lang="en-US" dirty="0"/>
              <a:t> Students and junior roles, lower current balance but high future value.</a:t>
            </a:r>
            <a:endParaRPr lang="ar-E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1B90E4-F850-0CCB-1A41-2B430E40D210}"/>
              </a:ext>
            </a:extLst>
          </p:cNvPr>
          <p:cNvSpPr txBox="1"/>
          <p:nvPr/>
        </p:nvSpPr>
        <p:spPr>
          <a:xfrm>
            <a:off x="1729154" y="3134522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Cluster 4: Affluent Retired:</a:t>
            </a:r>
            <a:r>
              <a:rPr lang="en-US" dirty="0"/>
              <a:t> High stability, low loan usage, specific wealth management needs.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28052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D3D8A-EAC9-99DE-F6CE-7D5E68BE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FF8189-51D5-9B17-0122-8DFA32D4D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1EE890-4A92-A999-C47E-D3DAF1D5BD12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637E6-1B26-11A9-B366-34FDCFA9D09E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CA265-0322-83C4-5DB8-DA229DDF4A1A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Segment Profiles (Clusters)</a:t>
            </a:r>
            <a:endParaRPr lang="ar-EG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DF7F63-47E7-FFA7-7A7C-8217FCA87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58" y="1923237"/>
            <a:ext cx="4855552" cy="384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31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A48E7-557A-D7CF-0346-1174129F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7B31FF-275C-8E74-4DC0-2DBD231B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F45BC9-72DD-D147-6C8A-21F0D4473857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A5AAC2-1B86-F7C9-BEBD-EEB7BC3081A8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52937B-11DE-E325-D20B-A0A381603FF3}"/>
              </a:ext>
            </a:extLst>
          </p:cNvPr>
          <p:cNvSpPr txBox="1"/>
          <p:nvPr/>
        </p:nvSpPr>
        <p:spPr>
          <a:xfrm>
            <a:off x="811822" y="1213338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Marketing Recommendations</a:t>
            </a:r>
            <a:endParaRPr lang="ar-EG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B4B44-F5B1-B7CD-A401-B1C58AEA08AC}"/>
              </a:ext>
            </a:extLst>
          </p:cNvPr>
          <p:cNvSpPr txBox="1"/>
          <p:nvPr/>
        </p:nvSpPr>
        <p:spPr>
          <a:xfrm>
            <a:off x="1729154" y="1987034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High-Value Managers:</a:t>
            </a:r>
            <a:r>
              <a:rPr lang="en-US" dirty="0"/>
              <a:t> Offer investment portfolios and premium credit cards.</a:t>
            </a:r>
            <a:endParaRPr lang="ar-E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61EAD-BC9F-D2A9-6CF1-64000B3E2E7F}"/>
              </a:ext>
            </a:extLst>
          </p:cNvPr>
          <p:cNvSpPr txBox="1"/>
          <p:nvPr/>
        </p:nvSpPr>
        <p:spPr>
          <a:xfrm>
            <a:off x="1729154" y="2857486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Young Professionals:</a:t>
            </a:r>
            <a:r>
              <a:rPr lang="en-US" dirty="0"/>
              <a:t> Focus on digital banking, mobile apps, and personal loans for travel/tech.</a:t>
            </a:r>
            <a:endParaRPr lang="ar-E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173DC-9DEB-0194-8DE0-B5A91C317543}"/>
              </a:ext>
            </a:extLst>
          </p:cNvPr>
          <p:cNvSpPr txBox="1"/>
          <p:nvPr/>
        </p:nvSpPr>
        <p:spPr>
          <a:xfrm>
            <a:off x="1729154" y="3815848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Retired:</a:t>
            </a:r>
            <a:r>
              <a:rPr lang="en-US" dirty="0"/>
              <a:t> Focus on fixed deposits and pension-related financial security.</a:t>
            </a:r>
            <a:endParaRPr lang="ar-E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C384B-66FF-B5E0-B95F-540AB3BB9BE5}"/>
              </a:ext>
            </a:extLst>
          </p:cNvPr>
          <p:cNvSpPr txBox="1"/>
          <p:nvPr/>
        </p:nvSpPr>
        <p:spPr>
          <a:xfrm>
            <a:off x="1729154" y="4774210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Class:</a:t>
            </a:r>
            <a:r>
              <a:rPr lang="en-US" dirty="0"/>
              <a:t> Focus on mortgage refinancing and insurance products.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480177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EFD3-3F4F-0BD9-675C-B194D9FE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7C4ED7-2632-E6A9-722F-141749C1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D6DFED-795D-B5E0-D5DF-0A35A08F2D6B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831CC0-DF5E-6161-767A-A2182211783B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D1FF0-2222-C0C6-D453-B556F1A04C3F}"/>
              </a:ext>
            </a:extLst>
          </p:cNvPr>
          <p:cNvSpPr txBox="1"/>
          <p:nvPr/>
        </p:nvSpPr>
        <p:spPr>
          <a:xfrm>
            <a:off x="811822" y="1028672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Conclusion &amp; Deployment</a:t>
            </a:r>
            <a:endParaRPr lang="ar-EG" sz="2400" b="1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2ECC79-8589-ADE6-13D8-8582974AE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647" y="1802423"/>
            <a:ext cx="7674706" cy="431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1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7A1E-F2F4-1119-445C-608884C0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5DA23C-7870-0557-0C51-A988E7C6E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7205DB-542C-81CE-318C-20E32A11EE93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38251-514E-7164-05E1-31363AADCA79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5F824-8498-DDD2-0C1E-530770B3CAB6}"/>
              </a:ext>
            </a:extLst>
          </p:cNvPr>
          <p:cNvSpPr txBox="1"/>
          <p:nvPr/>
        </p:nvSpPr>
        <p:spPr>
          <a:xfrm>
            <a:off x="811822" y="1028672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Conclusion &amp; Deployment</a:t>
            </a:r>
            <a:endParaRPr lang="ar-EG" sz="2400" b="1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3954F2-AB76-BAEE-626A-93E1B925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52" y="1883202"/>
            <a:ext cx="7499838" cy="42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52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C60C8-36D1-CAB4-8E80-8077AF2F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ABE1F2-0A7C-1B9B-7D61-4383EA6E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8" t="14744" r="8847" b="1923"/>
          <a:stretch>
            <a:fillRect/>
          </a:stretch>
        </p:blipFill>
        <p:spPr>
          <a:xfrm>
            <a:off x="0" y="0"/>
            <a:ext cx="1219668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963769-59E5-953B-F16E-34227D42DA3D}"/>
              </a:ext>
            </a:extLst>
          </p:cNvPr>
          <p:cNvSpPr/>
          <p:nvPr/>
        </p:nvSpPr>
        <p:spPr>
          <a:xfrm>
            <a:off x="659423" y="958362"/>
            <a:ext cx="9803423" cy="4686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34BCD-3EEE-5C6D-9C87-5B6662F4249F}"/>
              </a:ext>
            </a:extLst>
          </p:cNvPr>
          <p:cNvSpPr/>
          <p:nvPr/>
        </p:nvSpPr>
        <p:spPr>
          <a:xfrm>
            <a:off x="811822" y="6374422"/>
            <a:ext cx="10389578" cy="22860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8682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412</Words>
  <Application>Microsoft Office PowerPoint</Application>
  <PresentationFormat>Widescreen</PresentationFormat>
  <Paragraphs>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Source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Zeyad Refaey</dc:creator>
  <cp:lastModifiedBy>Zeyad Refaey</cp:lastModifiedBy>
  <cp:revision>2</cp:revision>
  <dcterms:created xsi:type="dcterms:W3CDTF">2025-12-29T02:59:47Z</dcterms:created>
  <dcterms:modified xsi:type="dcterms:W3CDTF">2025-12-29T03:46:19Z</dcterms:modified>
</cp:coreProperties>
</file>